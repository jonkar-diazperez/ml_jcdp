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media/image18.png" ContentType="image/png"/>
  <Override PartName="/ppt/media/image1.png" ContentType="image/png"/>
  <Override PartName="/ppt/media/image2.png" ContentType="image/png"/>
  <Override PartName="/ppt/media/image5.png" ContentType="image/png"/>
  <Override PartName="/ppt/media/image4.jpeg" ContentType="image/jpeg"/>
  <Override PartName="/ppt/media/image3.png" ContentType="image/png"/>
  <Override PartName="/ppt/media/image6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0.png" ContentType="image/png"/>
  <Override PartName="/ppt/media/image9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E93453-6159-4648-9B81-CBDF84AFE4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s-E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AD5899-3760-4DCC-957E-FCE2E8F6FC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s-E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2EFBCA-87B8-4579-A8D2-9CA1D69653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s-E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6BCA6F5-F077-4E5F-8C11-F93DD5A210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s-E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DC18B4E-5302-4F14-9670-61E7A117DE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4860360" cy="2880360"/>
          </a:xfrm>
          <a:custGeom>
            <a:avLst/>
            <a:gdLst/>
            <a:ahLst/>
            <a:rect l="0" t="0" r="r" b="b"/>
            <a:pathLst>
              <a:path w="13501" h="8001">
                <a:moveTo>
                  <a:pt x="0" y="0"/>
                </a:moveTo>
                <a:lnTo>
                  <a:pt x="0" y="500"/>
                </a:lnTo>
                <a:lnTo>
                  <a:pt x="10405" y="8001"/>
                </a:lnTo>
                <a:lnTo>
                  <a:pt x="13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" name=""/>
          <p:cNvSpPr/>
          <p:nvPr/>
        </p:nvSpPr>
        <p:spPr>
          <a:xfrm>
            <a:off x="4320000" y="0"/>
            <a:ext cx="5760360" cy="2160360"/>
          </a:xfrm>
          <a:custGeom>
            <a:avLst/>
            <a:gdLst/>
            <a:ahLst/>
            <a:rect l="0" t="0" r="r" b="b"/>
            <a:pathLst>
              <a:path w="16001" h="6001">
                <a:moveTo>
                  <a:pt x="16001" y="0"/>
                </a:moveTo>
                <a:lnTo>
                  <a:pt x="2500" y="0"/>
                </a:lnTo>
                <a:lnTo>
                  <a:pt x="0" y="6001"/>
                </a:lnTo>
                <a:lnTo>
                  <a:pt x="16001" y="2500"/>
                </a:lnTo>
                <a:lnTo>
                  <a:pt x="16001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"/>
          <p:cNvSpPr/>
          <p:nvPr/>
        </p:nvSpPr>
        <p:spPr>
          <a:xfrm>
            <a:off x="5580000" y="1260000"/>
            <a:ext cx="4500360" cy="3780360"/>
          </a:xfrm>
          <a:custGeom>
            <a:avLst/>
            <a:gdLst/>
            <a:ahLst/>
            <a:rect l="0" t="0" r="r" b="b"/>
            <a:pathLst>
              <a:path w="12501" h="10501">
                <a:moveTo>
                  <a:pt x="12501" y="10501"/>
                </a:moveTo>
                <a:lnTo>
                  <a:pt x="12501" y="0"/>
                </a:lnTo>
                <a:lnTo>
                  <a:pt x="0" y="2500"/>
                </a:lnTo>
                <a:lnTo>
                  <a:pt x="12501" y="10501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" name=""/>
          <p:cNvSpPr/>
          <p:nvPr/>
        </p:nvSpPr>
        <p:spPr>
          <a:xfrm>
            <a:off x="5580000" y="3060000"/>
            <a:ext cx="4500360" cy="2610360"/>
          </a:xfrm>
          <a:custGeom>
            <a:avLst/>
            <a:gdLst/>
            <a:ahLst/>
            <a:rect l="0" t="0" r="r" b="b"/>
            <a:pathLst>
              <a:path w="12501" h="7251">
                <a:moveTo>
                  <a:pt x="12501" y="7251"/>
                </a:moveTo>
                <a:lnTo>
                  <a:pt x="12501" y="6501"/>
                </a:lnTo>
                <a:lnTo>
                  <a:pt x="2000" y="0"/>
                </a:lnTo>
                <a:lnTo>
                  <a:pt x="0" y="7251"/>
                </a:lnTo>
                <a:lnTo>
                  <a:pt x="12501" y="72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6" name=""/>
          <p:cNvSpPr/>
          <p:nvPr/>
        </p:nvSpPr>
        <p:spPr>
          <a:xfrm>
            <a:off x="0" y="3762000"/>
            <a:ext cx="5760360" cy="1908360"/>
          </a:xfrm>
          <a:custGeom>
            <a:avLst/>
            <a:gdLst/>
            <a:ahLst/>
            <a:rect l="0" t="0" r="r" b="b"/>
            <a:pathLst>
              <a:path w="16001" h="5301">
                <a:moveTo>
                  <a:pt x="0" y="5301"/>
                </a:moveTo>
                <a:lnTo>
                  <a:pt x="14501" y="5301"/>
                </a:lnTo>
                <a:lnTo>
                  <a:pt x="16001" y="0"/>
                </a:lnTo>
                <a:lnTo>
                  <a:pt x="0" y="2546"/>
                </a:lnTo>
                <a:lnTo>
                  <a:pt x="0" y="530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7" name=""/>
          <p:cNvSpPr/>
          <p:nvPr/>
        </p:nvSpPr>
        <p:spPr>
          <a:xfrm>
            <a:off x="0" y="540000"/>
            <a:ext cx="4320360" cy="3780360"/>
          </a:xfrm>
          <a:custGeom>
            <a:avLst/>
            <a:gdLst/>
            <a:ahLst/>
            <a:rect l="0" t="0" r="r" b="b"/>
            <a:pathLst>
              <a:path w="12001" h="10501">
                <a:moveTo>
                  <a:pt x="0" y="0"/>
                </a:moveTo>
                <a:lnTo>
                  <a:pt x="0" y="10501"/>
                </a:lnTo>
                <a:lnTo>
                  <a:pt x="12001" y="850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&lt;fecha/hora&gt;</a:t>
            </a:r>
            <a:endParaRPr b="0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&lt;pie de página&gt;</a:t>
            </a:r>
            <a:endParaRPr b="0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F661977A-BAF6-470B-9105-415404D346E7}" type="slidenum">
              <a: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&lt;número&gt;</a:t>
            </a:fld>
            <a:endParaRPr b="0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3780000" y="1980000"/>
            <a:ext cx="2520000" cy="18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indent="0" algn="ctr">
              <a:spcAft>
                <a:spcPts val="1060"/>
              </a:spcAft>
            </a:pPr>
            <a:r>
              <a:rPr b="0" lang="es-ES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Pulse para editar el formato de texto del esquema</a:t>
            </a:r>
            <a:endParaRPr b="0" lang="es-E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indent="0" algn="ctr">
              <a:spcAft>
                <a:spcPts val="848"/>
              </a:spcAft>
            </a:pPr>
            <a:r>
              <a:rPr b="0" lang="es-ES" sz="22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Segundo nivel del esquema</a:t>
            </a:r>
            <a:endParaRPr b="0" lang="es-ES" sz="2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2" indent="0" algn="ctr">
              <a:spcAft>
                <a:spcPts val="635"/>
              </a:spcAft>
            </a:pPr>
            <a:r>
              <a:rPr b="0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Tercer nivel del esquema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3" indent="0" algn="ctr">
              <a:spcAft>
                <a:spcPts val="422"/>
              </a:spcAft>
            </a:pPr>
            <a:r>
              <a:rPr b="0" lang="es-E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Cuarto nivel del esquema</a:t>
            </a:r>
            <a:endParaRPr b="0" lang="es-E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4" indent="0" algn="ctr">
              <a:spcAft>
                <a:spcPts val="213"/>
              </a:spcAft>
            </a:pPr>
            <a:r>
              <a:rPr b="0" lang="es-ES" sz="16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Quinto nivel del esquema</a:t>
            </a:r>
            <a:endParaRPr b="0" lang="es-ES" sz="16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5" indent="0" algn="ctr">
              <a:spcAft>
                <a:spcPts val="213"/>
              </a:spcAft>
            </a:pPr>
            <a:r>
              <a:rPr b="0" lang="es-ES" sz="1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Sexto nivel del esquema</a:t>
            </a:r>
            <a:endParaRPr b="0" lang="es-ES" sz="1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6" indent="0" algn="ctr">
              <a:spcAft>
                <a:spcPts val="213"/>
              </a:spcAft>
            </a:pPr>
            <a:r>
              <a:rPr b="0" lang="es-ES" sz="1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Séptimo nivel del esquema</a:t>
            </a:r>
            <a:endParaRPr b="0" lang="es-ES" sz="1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title"/>
          </p:nvPr>
        </p:nvSpPr>
        <p:spPr>
          <a:xfrm>
            <a:off x="540000" y="180000"/>
            <a:ext cx="396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3200" strike="noStrike" u="none">
                <a:solidFill>
                  <a:srgbClr val="ffffff"/>
                </a:solidFill>
                <a:effectLst/>
                <a:uFillTx/>
                <a:latin typeface="DejaVu Sans"/>
              </a:rPr>
              <a:t>Pulse para editar el formato del texto de título</a:t>
            </a:r>
            <a:endParaRPr b="0" lang="es-ES" sz="32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>
            <a:off x="0" y="0"/>
            <a:ext cx="3276360" cy="3240360"/>
          </a:xfrm>
          <a:custGeom>
            <a:avLst/>
            <a:gdLst/>
            <a:ahLst/>
            <a:rect l="0" t="0" r="r" b="b"/>
            <a:pathLst>
              <a:path w="9101" h="9001">
                <a:moveTo>
                  <a:pt x="0" y="0"/>
                </a:moveTo>
                <a:lnTo>
                  <a:pt x="9101" y="0"/>
                </a:lnTo>
                <a:lnTo>
                  <a:pt x="6101" y="9001"/>
                </a:lnTo>
                <a:lnTo>
                  <a:pt x="0" y="4501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8" name=""/>
          <p:cNvSpPr/>
          <p:nvPr/>
        </p:nvSpPr>
        <p:spPr>
          <a:xfrm>
            <a:off x="3240000" y="0"/>
            <a:ext cx="5400360" cy="1080360"/>
          </a:xfrm>
          <a:custGeom>
            <a:avLst/>
            <a:gdLst/>
            <a:ahLst/>
            <a:rect l="0" t="0" r="r" b="b"/>
            <a:pathLst>
              <a:path w="15001" h="3001">
                <a:moveTo>
                  <a:pt x="1000" y="0"/>
                </a:moveTo>
                <a:lnTo>
                  <a:pt x="0" y="3001"/>
                </a:lnTo>
                <a:lnTo>
                  <a:pt x="15001" y="0"/>
                </a:lnTo>
                <a:lnTo>
                  <a:pt x="1000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9" name=""/>
          <p:cNvSpPr/>
          <p:nvPr/>
        </p:nvSpPr>
        <p:spPr>
          <a:xfrm>
            <a:off x="6120000" y="0"/>
            <a:ext cx="3960360" cy="3780360"/>
          </a:xfrm>
          <a:custGeom>
            <a:avLst/>
            <a:gdLst/>
            <a:ahLst/>
            <a:rect l="0" t="0" r="r" b="b"/>
            <a:pathLst>
              <a:path w="11001" h="10501">
                <a:moveTo>
                  <a:pt x="11001" y="0"/>
                </a:moveTo>
                <a:lnTo>
                  <a:pt x="0" y="2500"/>
                </a:lnTo>
                <a:lnTo>
                  <a:pt x="11001" y="10501"/>
                </a:lnTo>
                <a:lnTo>
                  <a:pt x="110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0" name=""/>
          <p:cNvSpPr/>
          <p:nvPr/>
        </p:nvSpPr>
        <p:spPr>
          <a:xfrm>
            <a:off x="6840000" y="2520000"/>
            <a:ext cx="3240360" cy="3150360"/>
          </a:xfrm>
          <a:custGeom>
            <a:avLst/>
            <a:gdLst/>
            <a:ahLst/>
            <a:rect l="0" t="0" r="r" b="b"/>
            <a:pathLst>
              <a:path w="9001" h="8751">
                <a:moveTo>
                  <a:pt x="9001" y="4501"/>
                </a:moveTo>
                <a:lnTo>
                  <a:pt x="3000" y="0"/>
                </a:lnTo>
                <a:lnTo>
                  <a:pt x="0" y="8751"/>
                </a:lnTo>
                <a:lnTo>
                  <a:pt x="9001" y="8751"/>
                </a:lnTo>
                <a:lnTo>
                  <a:pt x="9001" y="450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1" name=""/>
          <p:cNvSpPr/>
          <p:nvPr/>
        </p:nvSpPr>
        <p:spPr>
          <a:xfrm>
            <a:off x="1800000" y="4500000"/>
            <a:ext cx="5040360" cy="1170360"/>
          </a:xfrm>
          <a:custGeom>
            <a:avLst/>
            <a:gdLst/>
            <a:ahLst/>
            <a:rect l="0" t="0" r="r" b="b"/>
            <a:pathLst>
              <a:path w="14001" h="3251">
                <a:moveTo>
                  <a:pt x="0" y="3251"/>
                </a:moveTo>
                <a:lnTo>
                  <a:pt x="13001" y="3251"/>
                </a:lnTo>
                <a:lnTo>
                  <a:pt x="14001" y="0"/>
                </a:lnTo>
                <a:lnTo>
                  <a:pt x="0" y="325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2" name=""/>
          <p:cNvSpPr/>
          <p:nvPr/>
        </p:nvSpPr>
        <p:spPr>
          <a:xfrm>
            <a:off x="0" y="2160000"/>
            <a:ext cx="3996360" cy="3510360"/>
          </a:xfrm>
          <a:custGeom>
            <a:avLst/>
            <a:gdLst/>
            <a:ahLst/>
            <a:rect l="0" t="0" r="r" b="b"/>
            <a:pathLst>
              <a:path w="11101" h="9751">
                <a:moveTo>
                  <a:pt x="0" y="9751"/>
                </a:moveTo>
                <a:lnTo>
                  <a:pt x="1602" y="9751"/>
                </a:lnTo>
                <a:lnTo>
                  <a:pt x="11101" y="7440"/>
                </a:lnTo>
                <a:lnTo>
                  <a:pt x="0" y="0"/>
                </a:lnTo>
                <a:lnTo>
                  <a:pt x="0" y="9751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&lt;fecha/hora&gt;</a:t>
            </a:r>
            <a:endParaRPr b="0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&lt;pie de página&gt;</a:t>
            </a:r>
            <a:endParaRPr b="0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04B1D57A-C79D-4128-945D-6FCA405AF953}" type="slidenum">
              <a: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&lt;número&gt;</a:t>
            </a:fld>
            <a:endParaRPr b="0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title"/>
          </p:nvPr>
        </p:nvSpPr>
        <p:spPr>
          <a:xfrm>
            <a:off x="2880000" y="900000"/>
            <a:ext cx="432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3200" strike="noStrike" u="none">
                <a:solidFill>
                  <a:srgbClr val="333333"/>
                </a:solidFill>
                <a:effectLst/>
                <a:uFillTx/>
                <a:latin typeface="DejaVu Sans"/>
              </a:rPr>
              <a:t>Pulse para editar el formato del texto de título</a:t>
            </a:r>
            <a:endParaRPr b="0" lang="es-E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2880000" y="2160000"/>
            <a:ext cx="4320000" cy="25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Pulse para editar el formato de texto del esquema</a:t>
            </a:r>
            <a:endParaRPr b="0" lang="es-E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marL="864000" indent="-324000"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s-ES" sz="22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Segundo nivel del esquema</a:t>
            </a:r>
            <a:endParaRPr b="0" lang="es-ES" sz="2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2" marL="1296000" indent="-288000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Tercer nivel del esquema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3" marL="1728000" indent="-216000">
              <a:spcAft>
                <a:spcPts val="422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Cuarto nivel del esquema</a:t>
            </a:r>
            <a:endParaRPr b="0" lang="es-E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4" marL="2160000" indent="-216000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Quinto nivel del esquema</a:t>
            </a:r>
            <a:endParaRPr b="0" lang="es-E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5" marL="2592000" indent="-216000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Sexto nivel del esquema</a:t>
            </a:r>
            <a:endParaRPr b="0" lang="es-E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6" marL="3024000" indent="-216000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Séptimo nivel del esquema</a:t>
            </a:r>
            <a:endParaRPr b="0" lang="es-E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>
            <a:off x="0" y="0"/>
            <a:ext cx="1980360" cy="3420360"/>
          </a:xfrm>
          <a:custGeom>
            <a:avLst/>
            <a:gdLst/>
            <a:ahLst/>
            <a:rect l="0" t="0" r="r" b="b"/>
            <a:pathLst>
              <a:path w="5501" h="9501">
                <a:moveTo>
                  <a:pt x="0" y="0"/>
                </a:moveTo>
                <a:lnTo>
                  <a:pt x="0" y="8001"/>
                </a:lnTo>
                <a:lnTo>
                  <a:pt x="2500" y="9501"/>
                </a:lnTo>
                <a:lnTo>
                  <a:pt x="5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1" name=""/>
          <p:cNvSpPr/>
          <p:nvPr/>
        </p:nvSpPr>
        <p:spPr>
          <a:xfrm>
            <a:off x="2340000" y="0"/>
            <a:ext cx="1980360" cy="360360"/>
          </a:xfrm>
          <a:custGeom>
            <a:avLst/>
            <a:gdLst/>
            <a:ahLst/>
            <a:rect l="0" t="0" r="r" b="b"/>
            <a:pathLst>
              <a:path w="5501" h="1001">
                <a:moveTo>
                  <a:pt x="500" y="0"/>
                </a:moveTo>
                <a:lnTo>
                  <a:pt x="0" y="1001"/>
                </a:lnTo>
                <a:lnTo>
                  <a:pt x="5501" y="0"/>
                </a:lnTo>
                <a:lnTo>
                  <a:pt x="500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2" name=""/>
          <p:cNvSpPr/>
          <p:nvPr/>
        </p:nvSpPr>
        <p:spPr>
          <a:xfrm>
            <a:off x="6480000" y="0"/>
            <a:ext cx="3600360" cy="2700360"/>
          </a:xfrm>
          <a:custGeom>
            <a:avLst/>
            <a:gdLst/>
            <a:ahLst/>
            <a:rect l="0" t="0" r="r" b="b"/>
            <a:pathLst>
              <a:path w="10001" h="7501">
                <a:moveTo>
                  <a:pt x="10001" y="0"/>
                </a:moveTo>
                <a:lnTo>
                  <a:pt x="1000" y="0"/>
                </a:lnTo>
                <a:lnTo>
                  <a:pt x="0" y="500"/>
                </a:lnTo>
                <a:lnTo>
                  <a:pt x="10001" y="7501"/>
                </a:lnTo>
                <a:lnTo>
                  <a:pt x="100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3" name=""/>
          <p:cNvSpPr/>
          <p:nvPr/>
        </p:nvSpPr>
        <p:spPr>
          <a:xfrm>
            <a:off x="8100000" y="2340000"/>
            <a:ext cx="1980360" cy="3330360"/>
          </a:xfrm>
          <a:custGeom>
            <a:avLst/>
            <a:gdLst/>
            <a:ahLst/>
            <a:rect l="0" t="0" r="r" b="b"/>
            <a:pathLst>
              <a:path w="5501" h="9251">
                <a:moveTo>
                  <a:pt x="5501" y="9251"/>
                </a:moveTo>
                <a:lnTo>
                  <a:pt x="5501" y="2000"/>
                </a:lnTo>
                <a:lnTo>
                  <a:pt x="3001" y="0"/>
                </a:lnTo>
                <a:lnTo>
                  <a:pt x="0" y="9251"/>
                </a:lnTo>
                <a:lnTo>
                  <a:pt x="5501" y="92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4" name=""/>
          <p:cNvSpPr/>
          <p:nvPr/>
        </p:nvSpPr>
        <p:spPr>
          <a:xfrm>
            <a:off x="5940000" y="5220000"/>
            <a:ext cx="1800000" cy="450360"/>
          </a:xfrm>
          <a:custGeom>
            <a:avLst/>
            <a:gdLst/>
            <a:ahLst/>
            <a:rect l="0" t="0" r="r" b="b"/>
            <a:pathLst>
              <a:path w="5000" h="1251">
                <a:moveTo>
                  <a:pt x="4500" y="1251"/>
                </a:moveTo>
                <a:lnTo>
                  <a:pt x="5000" y="0"/>
                </a:lnTo>
                <a:lnTo>
                  <a:pt x="0" y="1251"/>
                </a:lnTo>
                <a:lnTo>
                  <a:pt x="4500" y="125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5" name=""/>
          <p:cNvSpPr/>
          <p:nvPr/>
        </p:nvSpPr>
        <p:spPr>
          <a:xfrm>
            <a:off x="0" y="3240000"/>
            <a:ext cx="3240360" cy="2430360"/>
          </a:xfrm>
          <a:custGeom>
            <a:avLst/>
            <a:gdLst/>
            <a:ahLst/>
            <a:rect l="0" t="0" r="r" b="b"/>
            <a:pathLst>
              <a:path w="9001" h="6751">
                <a:moveTo>
                  <a:pt x="0" y="0"/>
                </a:moveTo>
                <a:lnTo>
                  <a:pt x="0" y="6751"/>
                </a:lnTo>
                <a:lnTo>
                  <a:pt x="9001" y="675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800000" y="360000"/>
            <a:ext cx="648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3200" strike="noStrike" u="none">
                <a:solidFill>
                  <a:srgbClr val="333333"/>
                </a:solidFill>
                <a:effectLst/>
                <a:uFillTx/>
                <a:latin typeface="DejaVu Sans"/>
              </a:rPr>
              <a:t>Pulse para editar el formato del texto de título</a:t>
            </a:r>
            <a:endParaRPr b="0" lang="es-E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1800000" y="1440000"/>
            <a:ext cx="648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Pulse para editar el formato de texto del esquema</a:t>
            </a:r>
            <a:endParaRPr b="0" lang="es-E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marL="864000" indent="-324000"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s-ES" sz="22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Segundo nivel del esquema</a:t>
            </a:r>
            <a:endParaRPr b="0" lang="es-ES" sz="2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2" marL="1296000" indent="-288000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Tercer nivel del esquema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3" marL="1728000" indent="-216000"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Cuarto nivel del esquema</a:t>
            </a:r>
            <a:endParaRPr b="0" lang="es-E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4" marL="2160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16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Quinto nivel del esquema</a:t>
            </a:r>
            <a:endParaRPr b="0" lang="es-ES" sz="16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5" marL="2592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16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Sexto nivel del esquema</a:t>
            </a:r>
            <a:endParaRPr b="0" lang="es-ES" sz="16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6" marL="3024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16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Séptimo nivel del esquema</a:t>
            </a:r>
            <a:endParaRPr b="0" lang="es-ES" sz="16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&lt;fecha/hora&gt;</a:t>
            </a:r>
            <a:endParaRPr b="0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s-ES" sz="1400" strike="noStrike" u="none">
                <a:solidFill>
                  <a:srgbClr val="808080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808080"/>
                </a:solidFill>
                <a:effectLst/>
                <a:uFillTx/>
                <a:latin typeface="DejaVu Sans"/>
              </a:rPr>
              <a:t>&lt;pie de página&gt;</a:t>
            </a:r>
            <a:endParaRPr b="0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31F6736C-8632-4C04-AB29-150ED49F488D}" type="slidenum">
              <a: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&lt;número&gt;</a:t>
            </a:fld>
            <a:endParaRPr b="0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>
            <a:off x="0" y="0"/>
            <a:ext cx="1080360" cy="3420360"/>
          </a:xfrm>
          <a:custGeom>
            <a:avLst/>
            <a:gdLst/>
            <a:ahLst/>
            <a:rect l="0" t="0" r="r" b="b"/>
            <a:pathLst>
              <a:path w="3001" h="9501">
                <a:moveTo>
                  <a:pt x="0" y="0"/>
                </a:moveTo>
                <a:lnTo>
                  <a:pt x="0" y="9501"/>
                </a:lnTo>
                <a:lnTo>
                  <a:pt x="30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4" name=""/>
          <p:cNvSpPr/>
          <p:nvPr/>
        </p:nvSpPr>
        <p:spPr>
          <a:xfrm>
            <a:off x="7740000" y="0"/>
            <a:ext cx="2340360" cy="1620360"/>
          </a:xfrm>
          <a:custGeom>
            <a:avLst/>
            <a:gdLst/>
            <a:ahLst/>
            <a:rect l="0" t="0" r="r" b="b"/>
            <a:pathLst>
              <a:path w="6501" h="4501">
                <a:moveTo>
                  <a:pt x="6501" y="0"/>
                </a:moveTo>
                <a:lnTo>
                  <a:pt x="0" y="0"/>
                </a:lnTo>
                <a:lnTo>
                  <a:pt x="6501" y="4501"/>
                </a:lnTo>
                <a:lnTo>
                  <a:pt x="65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5" name=""/>
          <p:cNvSpPr/>
          <p:nvPr/>
        </p:nvSpPr>
        <p:spPr>
          <a:xfrm>
            <a:off x="9000000" y="2520000"/>
            <a:ext cx="1080360" cy="3150360"/>
          </a:xfrm>
          <a:custGeom>
            <a:avLst/>
            <a:gdLst/>
            <a:ahLst/>
            <a:rect l="0" t="0" r="r" b="b"/>
            <a:pathLst>
              <a:path w="3001" h="8751">
                <a:moveTo>
                  <a:pt x="3001" y="8751"/>
                </a:moveTo>
                <a:lnTo>
                  <a:pt x="3001" y="0"/>
                </a:lnTo>
                <a:lnTo>
                  <a:pt x="0" y="8751"/>
                </a:lnTo>
                <a:lnTo>
                  <a:pt x="3001" y="87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6" name=""/>
          <p:cNvSpPr/>
          <p:nvPr/>
        </p:nvSpPr>
        <p:spPr>
          <a:xfrm>
            <a:off x="0" y="4320000"/>
            <a:ext cx="1980360" cy="1350360"/>
          </a:xfrm>
          <a:custGeom>
            <a:avLst/>
            <a:gdLst/>
            <a:ahLst/>
            <a:rect l="0" t="0" r="r" b="b"/>
            <a:pathLst>
              <a:path w="5501" h="3751">
                <a:moveTo>
                  <a:pt x="0" y="0"/>
                </a:moveTo>
                <a:lnTo>
                  <a:pt x="0" y="3751"/>
                </a:lnTo>
                <a:lnTo>
                  <a:pt x="5501" y="375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dt" idx="10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&lt;fecha/hora&gt;</a:t>
            </a:r>
            <a:endParaRPr b="0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ftr" idx="11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s-ES" sz="1400" strike="noStrike" u="none">
                <a:solidFill>
                  <a:srgbClr val="808080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808080"/>
                </a:solidFill>
                <a:effectLst/>
                <a:uFillTx/>
                <a:latin typeface="DejaVu Sans"/>
              </a:rPr>
              <a:t>&lt;pie de página&gt;</a:t>
            </a:r>
            <a:endParaRPr b="0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12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068F4650-F312-40EF-8E19-9466551EFF8C}" type="slidenum">
              <a: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&lt;número&gt;</a:t>
            </a:fld>
            <a:endParaRPr b="0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3200" strike="noStrike" u="none">
                <a:solidFill>
                  <a:srgbClr val="333333"/>
                </a:solidFill>
                <a:effectLst/>
                <a:uFillTx/>
                <a:latin typeface="DejaVu Sans"/>
              </a:rPr>
              <a:t>Pulse para editar el formato del texto de título</a:t>
            </a:r>
            <a:endParaRPr b="0" lang="es-E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Pulse para editar el formato de texto del esquema</a:t>
            </a:r>
            <a:endParaRPr b="0" lang="es-E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marL="864000" indent="-324000">
              <a:spcAft>
                <a:spcPts val="850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s-ES" sz="22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Segundo nivel del esquema</a:t>
            </a:r>
            <a:endParaRPr b="0" lang="es-ES" sz="2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2" marL="1296000" indent="-288000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Tercer nivel del esquema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3" marL="1728000" indent="-216000"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Cuarto nivel del esquema</a:t>
            </a:r>
            <a:endParaRPr b="0" lang="es-E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4" marL="2160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Quinto nivel del esquema</a:t>
            </a:r>
            <a:endParaRPr b="0" lang="es-E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5" marL="2592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Sexto nivel del esquema</a:t>
            </a:r>
            <a:endParaRPr b="0" lang="es-E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6" marL="3024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Séptimo nivel del esquema</a:t>
            </a:r>
            <a:endParaRPr b="0" lang="es-E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jpe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ttps://www.boe.es/diario_boe/txt.php?id=BOE-A-2021-8447" TargetMode="External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hyperlink" Target="https://www.euskadi.eus/informacion/la-red-de-control-de-calidad-del-aire/web01-a2inguru/es/" TargetMode="External"/><Relationship Id="rId3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3745440" y="1911240"/>
            <a:ext cx="2561760" cy="185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endParaRPr b="0" lang="es-ES" sz="3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title"/>
          </p:nvPr>
        </p:nvSpPr>
        <p:spPr>
          <a:xfrm>
            <a:off x="504000" y="225000"/>
            <a:ext cx="4039560" cy="94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title"/>
          </p:nvPr>
        </p:nvSpPr>
        <p:spPr>
          <a:xfrm>
            <a:off x="2947680" y="180000"/>
            <a:ext cx="6592680" cy="118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r">
              <a:buNone/>
            </a:pPr>
            <a:r>
              <a:rPr b="1" lang="es-ES" sz="40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ZBE EN EUSKADI</a:t>
            </a:r>
            <a:br>
              <a:rPr sz="4000"/>
            </a:br>
            <a:endParaRPr b="0" lang="es-ES" sz="40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pic>
        <p:nvPicPr>
          <p:cNvPr id="57" name="" descr=""/>
          <p:cNvPicPr/>
          <p:nvPr/>
        </p:nvPicPr>
        <p:blipFill>
          <a:blip r:embed="rId1"/>
          <a:stretch/>
        </p:blipFill>
        <p:spPr>
          <a:xfrm>
            <a:off x="720000" y="3060000"/>
            <a:ext cx="3813480" cy="25200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58" name="" descr=""/>
          <p:cNvPicPr/>
          <p:nvPr/>
        </p:nvPicPr>
        <p:blipFill>
          <a:blip r:embed="rId2"/>
          <a:stretch/>
        </p:blipFill>
        <p:spPr>
          <a:xfrm>
            <a:off x="5952240" y="900000"/>
            <a:ext cx="3922560" cy="27000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59" name="" descr=""/>
          <p:cNvPicPr/>
          <p:nvPr/>
        </p:nvPicPr>
        <p:blipFill>
          <a:blip r:embed="rId3"/>
          <a:stretch/>
        </p:blipFill>
        <p:spPr>
          <a:xfrm>
            <a:off x="540360" y="180000"/>
            <a:ext cx="3216600" cy="21600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60" name="" descr=""/>
          <p:cNvPicPr/>
          <p:nvPr/>
        </p:nvPicPr>
        <p:blipFill>
          <a:blip r:embed="rId4"/>
          <a:stretch/>
        </p:blipFill>
        <p:spPr>
          <a:xfrm>
            <a:off x="3600360" y="988200"/>
            <a:ext cx="2711880" cy="3871800"/>
          </a:xfrm>
          <a:prstGeom prst="rect">
            <a:avLst/>
          </a:prstGeom>
          <a:noFill/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800000" y="360000"/>
            <a:ext cx="648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buNone/>
            </a:pPr>
            <a:r>
              <a:rPr b="1" lang="es-ES" sz="40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¿Que son las ZBE?</a:t>
            </a:r>
            <a:endParaRPr b="0" lang="es-ES" sz="40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1440000" y="1440000"/>
            <a:ext cx="702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s-ES" sz="16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La ley europea </a:t>
            </a:r>
            <a:r>
              <a:rPr b="1" lang="es-ES" sz="1600" strike="noStrike" u="none">
                <a:solidFill>
                  <a:srgbClr val="666666"/>
                </a:solidFill>
                <a:effectLst/>
                <a:uFillTx/>
                <a:latin typeface="DejaVu Sans"/>
                <a:hlinkClick r:id="rId1"/>
              </a:rPr>
              <a:t>7/2021 de cambio climático y transición energética</a:t>
            </a:r>
            <a:r>
              <a:rPr b="0" lang="es-ES" sz="16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 obliga a los municipios de más de 50.000 habitantes a que adopten medidas para reducir las emisiones derivadas de la movilidad. </a:t>
            </a:r>
            <a:endParaRPr b="0" lang="es-ES" sz="16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s-ES" sz="16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En el caso de las capitales vascas, se han elaborado planes de implantación plurianuales en fases que ya han comenzado a implementarse en el último año </a:t>
            </a:r>
            <a:endParaRPr b="0" lang="es-ES" sz="16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1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BILBAO - 15/06/2024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1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DONOSTIA - 01/01/2025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1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GASTEIZ - 15/09/2025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1C48EA1-C0F9-4B84-A513-C8813B569AD3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/>
          </p:nvPr>
        </p:nvSpPr>
        <p:spPr>
          <a:xfrm>
            <a:off x="1980000" y="2160000"/>
            <a:ext cx="6638040" cy="33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1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Dióxido de azufre (SO₂)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1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Óxidos de nitrógeno (NO y NO₂)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1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Ozono troposférico (O₃)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1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Monóxido de carbono (CO)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1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Benceno (C₆H₆)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1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Partículas en suspensión (PM₁₀ y PM₂,₅)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endParaRPr b="0" lang="es-E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1980000" y="478800"/>
            <a:ext cx="6480000" cy="20412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65" name="PlaceHolder 2"/>
          <p:cNvSpPr>
            <a:spLocks noGrp="1"/>
          </p:cNvSpPr>
          <p:nvPr>
            <p:ph type="title"/>
          </p:nvPr>
        </p:nvSpPr>
        <p:spPr>
          <a:xfrm>
            <a:off x="720000" y="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1" lang="es-ES" sz="4000" strike="noStrike" u="none">
                <a:solidFill>
                  <a:srgbClr val="3465a4"/>
                </a:solidFill>
                <a:effectLst/>
                <a:uFillTx/>
                <a:latin typeface="DejaVu Sans"/>
              </a:rPr>
              <a:t>ICA – Indices Calidad</a:t>
            </a:r>
            <a:r>
              <a:rPr b="0" lang="es-ES" sz="3200" strike="noStrike" u="none">
                <a:solidFill>
                  <a:srgbClr val="333333"/>
                </a:solidFill>
                <a:effectLst/>
                <a:uFillTx/>
                <a:latin typeface="DejaVu Sans"/>
              </a:rPr>
              <a:t> </a:t>
            </a:r>
            <a:r>
              <a:rPr b="1" lang="es-ES" sz="4000" strike="noStrike" u="none">
                <a:solidFill>
                  <a:srgbClr val="3465a4"/>
                </a:solidFill>
                <a:effectLst/>
                <a:uFillTx/>
                <a:latin typeface="DejaVu Sans"/>
              </a:rPr>
              <a:t>Aire</a:t>
            </a:r>
            <a:endParaRPr b="0" lang="es-ES" sz="40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2520000" y="5220000"/>
            <a:ext cx="5940000" cy="5400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 anchorCtr="1">
            <a:noAutofit/>
          </a:bodyPr>
          <a:p>
            <a:pPr algn="ctr"/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DejaVu Sans"/>
                <a:hlinkClick r:id="rId2"/>
              </a:rPr>
              <a:t>Red de Control de Calidad del Aire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FB817DD-EABC-4B86-A3C1-4710C25BA665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20000" y="218520"/>
            <a:ext cx="8640000" cy="118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1" lang="es-ES" sz="40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¿Se han reducido los ICA en las ZBE?</a:t>
            </a:r>
            <a:endParaRPr b="0" lang="es-ES" sz="40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0" y="1440000"/>
            <a:ext cx="558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s-ES" sz="20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BILBAO</a:t>
            </a:r>
            <a:r>
              <a:rPr b="1" lang="es-ES" sz="20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 – ICA CO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pic>
        <p:nvPicPr>
          <p:cNvPr id="69" name="" descr=""/>
          <p:cNvPicPr/>
          <p:nvPr/>
        </p:nvPicPr>
        <p:blipFill>
          <a:blip r:embed="rId1"/>
          <a:stretch/>
        </p:blipFill>
        <p:spPr>
          <a:xfrm>
            <a:off x="51120" y="1896120"/>
            <a:ext cx="5060880" cy="332388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4680000" y="1440000"/>
            <a:ext cx="558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s-ES" sz="20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BILBAO</a:t>
            </a:r>
            <a:r>
              <a:rPr b="1" lang="es-ES" sz="20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 – ICA NO2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pic>
        <p:nvPicPr>
          <p:cNvPr id="71" name="" descr=""/>
          <p:cNvPicPr/>
          <p:nvPr/>
        </p:nvPicPr>
        <p:blipFill>
          <a:blip r:embed="rId2"/>
          <a:stretch/>
        </p:blipFill>
        <p:spPr>
          <a:xfrm>
            <a:off x="4983120" y="1857960"/>
            <a:ext cx="5060880" cy="332388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CDACBD1-E322-46E6-92FE-4E0A038D0539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720000" y="218520"/>
            <a:ext cx="8640000" cy="118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1" lang="es-ES" sz="40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¿Se han reducido los ICA en las ZBE?</a:t>
            </a:r>
            <a:endParaRPr b="0" lang="es-ES" sz="40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0" y="1440000"/>
            <a:ext cx="558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s-ES" sz="20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BILBAO</a:t>
            </a:r>
            <a:r>
              <a:rPr b="1" lang="es-ES" sz="20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 – ICA PM10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51120" y="1896120"/>
            <a:ext cx="5060880" cy="332388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4680000" y="1440000"/>
            <a:ext cx="558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s-ES" sz="20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BILBAO</a:t>
            </a:r>
            <a:r>
              <a:rPr b="1" lang="es-ES" sz="20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 – ICA PM2,5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pic>
        <p:nvPicPr>
          <p:cNvPr id="76" name="" descr=""/>
          <p:cNvPicPr/>
          <p:nvPr/>
        </p:nvPicPr>
        <p:blipFill>
          <a:blip r:embed="rId2"/>
          <a:stretch/>
        </p:blipFill>
        <p:spPr>
          <a:xfrm>
            <a:off x="4983120" y="1857960"/>
            <a:ext cx="5060880" cy="332388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3EE3BD6-64C0-4D1F-A376-7E48A54926B0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20000" y="0"/>
            <a:ext cx="8640000" cy="19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1" lang="es-ES" sz="40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¿Se han reducido los ICA en las ZBE?</a:t>
            </a:r>
            <a:br>
              <a:rPr sz="4000"/>
            </a:br>
            <a:r>
              <a:rPr b="0" lang="es-ES" sz="26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Est. MAZARREDO</a:t>
            </a:r>
            <a:br>
              <a:rPr sz="2600"/>
            </a:br>
            <a:r>
              <a:rPr b="0" lang="es-ES" sz="26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(BILBAO)</a:t>
            </a:r>
            <a:endParaRPr b="0" lang="es-ES" sz="26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0" y="767520"/>
            <a:ext cx="3420000" cy="245664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9" name="" descr=""/>
          <p:cNvPicPr/>
          <p:nvPr/>
        </p:nvPicPr>
        <p:blipFill>
          <a:blip r:embed="rId2"/>
          <a:stretch/>
        </p:blipFill>
        <p:spPr>
          <a:xfrm>
            <a:off x="0" y="3190320"/>
            <a:ext cx="3420000" cy="246384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80" name="" descr=""/>
          <p:cNvPicPr/>
          <p:nvPr/>
        </p:nvPicPr>
        <p:blipFill>
          <a:blip r:embed="rId3"/>
          <a:stretch/>
        </p:blipFill>
        <p:spPr>
          <a:xfrm>
            <a:off x="3156840" y="2160000"/>
            <a:ext cx="3780000" cy="272304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81" name="" descr=""/>
          <p:cNvPicPr/>
          <p:nvPr/>
        </p:nvPicPr>
        <p:blipFill>
          <a:blip r:embed="rId4"/>
          <a:stretch/>
        </p:blipFill>
        <p:spPr>
          <a:xfrm>
            <a:off x="6660000" y="767520"/>
            <a:ext cx="3420000" cy="246384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82" name="" descr=""/>
          <p:cNvPicPr/>
          <p:nvPr/>
        </p:nvPicPr>
        <p:blipFill>
          <a:blip r:embed="rId5"/>
          <a:stretch/>
        </p:blipFill>
        <p:spPr>
          <a:xfrm>
            <a:off x="6660000" y="3195360"/>
            <a:ext cx="3420000" cy="246024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4487D37-FD07-4664-8FCB-D52B823DE067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0" y="639000"/>
            <a:ext cx="3499200" cy="251316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84" name="" descr=""/>
          <p:cNvPicPr/>
          <p:nvPr/>
        </p:nvPicPr>
        <p:blipFill>
          <a:blip r:embed="rId2"/>
          <a:stretch/>
        </p:blipFill>
        <p:spPr>
          <a:xfrm>
            <a:off x="0" y="3165480"/>
            <a:ext cx="3420000" cy="246384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85" name="" descr=""/>
          <p:cNvPicPr/>
          <p:nvPr/>
        </p:nvPicPr>
        <p:blipFill>
          <a:blip r:embed="rId3"/>
          <a:stretch/>
        </p:blipFill>
        <p:spPr>
          <a:xfrm>
            <a:off x="3240000" y="2180520"/>
            <a:ext cx="3780000" cy="275148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86" name="" descr=""/>
          <p:cNvPicPr/>
          <p:nvPr/>
        </p:nvPicPr>
        <p:blipFill>
          <a:blip r:embed="rId4"/>
          <a:stretch/>
        </p:blipFill>
        <p:spPr>
          <a:xfrm>
            <a:off x="6581880" y="684000"/>
            <a:ext cx="3498120" cy="25200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87" name="" descr=""/>
          <p:cNvPicPr/>
          <p:nvPr/>
        </p:nvPicPr>
        <p:blipFill>
          <a:blip r:embed="rId5"/>
          <a:stretch/>
        </p:blipFill>
        <p:spPr>
          <a:xfrm>
            <a:off x="6602040" y="3168000"/>
            <a:ext cx="3477960" cy="25020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776160" y="57240"/>
            <a:ext cx="8640000" cy="18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1" lang="es-ES" sz="40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¿Se han reducido los ICA en las ZBE?</a:t>
            </a:r>
            <a:br>
              <a:rPr sz="4000"/>
            </a:br>
            <a:r>
              <a:rPr b="0" lang="es-ES" sz="24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Est. M.ª DÍAZ DE HARO </a:t>
            </a:r>
            <a:br>
              <a:rPr sz="2400"/>
            </a:br>
            <a:r>
              <a:rPr b="0" lang="es-ES" sz="24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(BILBAO)</a:t>
            </a:r>
            <a:endParaRPr b="0" lang="es-ES" sz="24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430575A-10DA-4114-A1B2-5CCA37C90860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0" y="720000"/>
            <a:ext cx="3665520" cy="25200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90" name="" descr=""/>
          <p:cNvPicPr/>
          <p:nvPr/>
        </p:nvPicPr>
        <p:blipFill>
          <a:blip r:embed="rId2"/>
          <a:stretch/>
        </p:blipFill>
        <p:spPr>
          <a:xfrm>
            <a:off x="0" y="3060000"/>
            <a:ext cx="3796560" cy="26100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91" name="" descr=""/>
          <p:cNvPicPr/>
          <p:nvPr/>
        </p:nvPicPr>
        <p:blipFill>
          <a:blip r:embed="rId3"/>
          <a:stretch/>
        </p:blipFill>
        <p:spPr>
          <a:xfrm>
            <a:off x="3049920" y="1759320"/>
            <a:ext cx="4510080" cy="310068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92" name="" descr=""/>
          <p:cNvPicPr/>
          <p:nvPr/>
        </p:nvPicPr>
        <p:blipFill>
          <a:blip r:embed="rId4"/>
          <a:stretch/>
        </p:blipFill>
        <p:spPr>
          <a:xfrm>
            <a:off x="6480000" y="3217680"/>
            <a:ext cx="3567240" cy="245232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93" name="" descr=""/>
          <p:cNvPicPr/>
          <p:nvPr/>
        </p:nvPicPr>
        <p:blipFill>
          <a:blip r:embed="rId5"/>
          <a:stretch/>
        </p:blipFill>
        <p:spPr>
          <a:xfrm>
            <a:off x="6479640" y="720000"/>
            <a:ext cx="3633120" cy="249768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0" y="41040"/>
            <a:ext cx="10080000" cy="153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1" lang="es-ES" sz="40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¿Se han reducido los ICA en las ZBE? </a:t>
            </a:r>
            <a:br>
              <a:rPr sz="4000"/>
            </a:br>
            <a:r>
              <a:rPr b="0" lang="es-ES" sz="24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Est. EASO (DONOSTIA)</a:t>
            </a:r>
            <a:endParaRPr b="0" lang="es-ES" sz="24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9191D69-7F18-4B28-B53F-12AE96D8D747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0" y="573840"/>
            <a:ext cx="3600000" cy="259344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96" name="" descr=""/>
          <p:cNvPicPr/>
          <p:nvPr/>
        </p:nvPicPr>
        <p:blipFill>
          <a:blip r:embed="rId2"/>
          <a:stretch/>
        </p:blipFill>
        <p:spPr>
          <a:xfrm>
            <a:off x="0" y="3092040"/>
            <a:ext cx="3600000" cy="257796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97" name="" descr=""/>
          <p:cNvPicPr/>
          <p:nvPr/>
        </p:nvPicPr>
        <p:blipFill>
          <a:blip r:embed="rId3"/>
          <a:stretch/>
        </p:blipFill>
        <p:spPr>
          <a:xfrm>
            <a:off x="6660000" y="720000"/>
            <a:ext cx="3420000" cy="246384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98" name="" descr=""/>
          <p:cNvPicPr/>
          <p:nvPr/>
        </p:nvPicPr>
        <p:blipFill>
          <a:blip r:embed="rId4"/>
          <a:stretch/>
        </p:blipFill>
        <p:spPr>
          <a:xfrm>
            <a:off x="3420000" y="1830600"/>
            <a:ext cx="3420000" cy="24894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99" name="" descr=""/>
          <p:cNvPicPr/>
          <p:nvPr/>
        </p:nvPicPr>
        <p:blipFill>
          <a:blip r:embed="rId5"/>
          <a:stretch/>
        </p:blipFill>
        <p:spPr>
          <a:xfrm>
            <a:off x="6660000" y="3209760"/>
            <a:ext cx="3420000" cy="246024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0" y="13680"/>
            <a:ext cx="10080000" cy="149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s-ES" sz="28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¿Hay impacto en los ICA de las zonas externas a las ZBE? (Efecto Frontera)</a:t>
            </a:r>
            <a:r>
              <a:rPr b="1" lang="es-ES" sz="32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 </a:t>
            </a:r>
            <a:r>
              <a:rPr b="1" lang="es-ES" sz="40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 </a:t>
            </a:r>
            <a:br>
              <a:rPr sz="4000"/>
            </a:br>
            <a:r>
              <a:rPr b="0" lang="es-ES" sz="22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Est. PARQUE EUROPA</a:t>
            </a:r>
            <a:endParaRPr b="0" lang="es-ES" sz="2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356C5C0-1777-4B80-8A9A-6EDB67988DB4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-6840" y="792360"/>
            <a:ext cx="3597840" cy="259164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6667200" y="720000"/>
            <a:ext cx="3412800" cy="245844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103" name="" descr=""/>
          <p:cNvPicPr/>
          <p:nvPr/>
        </p:nvPicPr>
        <p:blipFill>
          <a:blip r:embed="rId3"/>
          <a:stretch/>
        </p:blipFill>
        <p:spPr>
          <a:xfrm>
            <a:off x="5400000" y="3224880"/>
            <a:ext cx="3399480" cy="244512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104" name="" descr=""/>
          <p:cNvPicPr/>
          <p:nvPr/>
        </p:nvPicPr>
        <p:blipFill>
          <a:blip r:embed="rId4"/>
          <a:stretch/>
        </p:blipFill>
        <p:spPr>
          <a:xfrm>
            <a:off x="1800000" y="3180600"/>
            <a:ext cx="3420000" cy="24894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0" y="13680"/>
            <a:ext cx="10080000" cy="149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s-ES" sz="28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¿Hay impacto en los ICA de las zonas externas a las ZBE? (Efecto Frontera)</a:t>
            </a:r>
            <a:r>
              <a:rPr b="1" lang="es-ES" sz="32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 </a:t>
            </a:r>
            <a:r>
              <a:rPr b="1" lang="es-ES" sz="40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 </a:t>
            </a:r>
            <a:br>
              <a:rPr sz="4000"/>
            </a:br>
            <a:r>
              <a:rPr b="0" lang="es-ES" sz="22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Est. BASAURI</a:t>
            </a:r>
            <a:endParaRPr b="0" lang="es-ES" sz="2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342A3D0-90B7-4E88-B471-032682868385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-180000" y="2992320"/>
            <a:ext cx="3894840" cy="267768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2880000" y="1800000"/>
            <a:ext cx="4434840" cy="304884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-180000" y="618480"/>
            <a:ext cx="3600000" cy="24750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109" name="" descr=""/>
          <p:cNvPicPr/>
          <p:nvPr/>
        </p:nvPicPr>
        <p:blipFill>
          <a:blip r:embed="rId4"/>
          <a:stretch/>
        </p:blipFill>
        <p:spPr>
          <a:xfrm>
            <a:off x="6414120" y="648000"/>
            <a:ext cx="3665880" cy="25200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110" name="" descr=""/>
          <p:cNvPicPr/>
          <p:nvPr/>
        </p:nvPicPr>
        <p:blipFill>
          <a:blip r:embed="rId5"/>
          <a:stretch/>
        </p:blipFill>
        <p:spPr>
          <a:xfrm>
            <a:off x="6283800" y="3060000"/>
            <a:ext cx="3796200" cy="26100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0" y="13680"/>
            <a:ext cx="10080000" cy="149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s-ES" sz="28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¿Hay impacto en los ICA de las zonas externas a las ZBE? (Efecto Frontera)</a:t>
            </a:r>
            <a:r>
              <a:rPr b="1" lang="es-ES" sz="32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 </a:t>
            </a:r>
            <a:r>
              <a:rPr b="1" lang="es-ES" sz="40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 </a:t>
            </a:r>
            <a:br>
              <a:rPr sz="4000"/>
            </a:br>
            <a:r>
              <a:rPr b="0" lang="es-ES" sz="22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Est. PUYO (DONOSTIA)</a:t>
            </a:r>
            <a:endParaRPr b="0" lang="es-ES" sz="2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3D160F0-6D1C-4F4F-A83E-4E31C76AB6E8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s-ES" sz="32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CONCLUSIONES</a:t>
            </a:r>
            <a:endParaRPr b="0" lang="es-E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s-ES" sz="22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H1: ¿Se han reducido los ICA en las ZBE?</a:t>
            </a:r>
            <a:endParaRPr b="0" lang="es-ES" sz="2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-324000">
              <a:spcBef>
                <a:spcPts val="1474"/>
              </a:spcBef>
              <a:spcAft>
                <a:spcPts val="1276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22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Se observa reducción en la magnitud y la extensión de valores de los ICA relacionados con gases de emisión: CO, O3, NO2.</a:t>
            </a:r>
            <a:endParaRPr b="0" lang="es-ES" sz="2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s-ES" sz="22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H2: ¿Se han reducido todos los ICA o hay ICA con más impacto?</a:t>
            </a:r>
            <a:endParaRPr b="0" lang="es-ES" sz="2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-324000">
              <a:spcBef>
                <a:spcPts val="1474"/>
              </a:spcBef>
              <a:spcAft>
                <a:spcPts val="1276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22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Los ICA relacionados con partículas (PM10 y PM2,5) y SO2 no se aprecia una reducción, e incluso se observa un incremento en sus valores: ¿factores ambientales, transporte, falta de datos...?</a:t>
            </a:r>
            <a:endParaRPr b="0" lang="es-ES" sz="2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s-ES" sz="22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H3: ¿Han aumentado/disminuido los ICA de las zonas externas a las ZBE? (Efecto Frontera)</a:t>
            </a:r>
            <a:endParaRPr b="0" lang="es-ES" sz="2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-324000">
              <a:spcBef>
                <a:spcPts val="1474"/>
              </a:spcBef>
              <a:spcAft>
                <a:spcPts val="1276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22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Se observa un comportamiento similar en la mayoría de los ICA: disminución en los gases y aumento PM.</a:t>
            </a:r>
            <a:endParaRPr b="0" lang="es-ES" sz="2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-324000">
              <a:spcBef>
                <a:spcPts val="1474"/>
              </a:spcBef>
              <a:spcAft>
                <a:spcPts val="1276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22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El ICA PM10 tiene un aumento mayor en estas zonas </a:t>
            </a:r>
            <a:endParaRPr b="0" lang="es-ES" sz="2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C088734-BD1E-4473-8067-09C638D42A3B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2025-11-14T11:54:24Z</dcterms:created>
  <dc:creator/>
  <dc:description>This work is licensed under a Creative Commons-0 licence.
It makes use of the works of Zirk.</dc:description>
  <dc:language>es-ES</dc:language>
  <cp:lastModifiedBy/>
  <cp:lastPrinted>2025-11-26T11:36:15Z</cp:lastPrinted>
  <dcterms:modified xsi:type="dcterms:W3CDTF">2025-11-26T11:43:15Z</dcterms:modified>
  <cp:revision>10</cp:revision>
  <dc:subject/>
  <dc:title>Focus</dc:title>
</cp:coreProperties>
</file>