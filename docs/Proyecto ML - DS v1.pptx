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8ECA230-3F7A-463B-B658-6179283AD3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0CA3A57-110A-4A7C-9F23-6CAD0891B1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6FC632F-5FEA-451C-BD4F-FE87A570E1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ECAC33A-5662-44D6-986B-8285F56C32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466149C-03A5-4BA8-BAC7-D4684F605C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860360" cy="2880360"/>
          </a:xfrm>
          <a:custGeom>
            <a:avLst/>
            <a:gdLst/>
            <a:ahLst/>
            <a:rect l="0" t="0" r="r" b="b"/>
            <a:pathLst>
              <a:path w="13501" h="8001">
                <a:moveTo>
                  <a:pt x="0" y="0"/>
                </a:moveTo>
                <a:lnTo>
                  <a:pt x="0" y="500"/>
                </a:lnTo>
                <a:lnTo>
                  <a:pt x="10405" y="8001"/>
                </a:lnTo>
                <a:lnTo>
                  <a:pt x="13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"/>
          <p:cNvSpPr/>
          <p:nvPr/>
        </p:nvSpPr>
        <p:spPr>
          <a:xfrm>
            <a:off x="4320000" y="0"/>
            <a:ext cx="5760360" cy="2160360"/>
          </a:xfrm>
          <a:custGeom>
            <a:avLst/>
            <a:gdLst/>
            <a:ahLst/>
            <a:rect l="0" t="0" r="r" b="b"/>
            <a:pathLst>
              <a:path w="16001" h="6001">
                <a:moveTo>
                  <a:pt x="16001" y="0"/>
                </a:moveTo>
                <a:lnTo>
                  <a:pt x="2500" y="0"/>
                </a:lnTo>
                <a:lnTo>
                  <a:pt x="0" y="6001"/>
                </a:lnTo>
                <a:lnTo>
                  <a:pt x="16001" y="2500"/>
                </a:lnTo>
                <a:lnTo>
                  <a:pt x="16001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"/>
          <p:cNvSpPr/>
          <p:nvPr/>
        </p:nvSpPr>
        <p:spPr>
          <a:xfrm>
            <a:off x="5580000" y="1260000"/>
            <a:ext cx="4500360" cy="3780360"/>
          </a:xfrm>
          <a:custGeom>
            <a:avLst/>
            <a:gdLst/>
            <a:ahLst/>
            <a:rect l="0" t="0" r="r" b="b"/>
            <a:pathLst>
              <a:path w="12501" h="10501">
                <a:moveTo>
                  <a:pt x="12501" y="10501"/>
                </a:moveTo>
                <a:lnTo>
                  <a:pt x="12501" y="0"/>
                </a:lnTo>
                <a:lnTo>
                  <a:pt x="0" y="2500"/>
                </a:lnTo>
                <a:lnTo>
                  <a:pt x="12501" y="10501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" name=""/>
          <p:cNvSpPr/>
          <p:nvPr/>
        </p:nvSpPr>
        <p:spPr>
          <a:xfrm>
            <a:off x="5580000" y="3060000"/>
            <a:ext cx="4500360" cy="2610360"/>
          </a:xfrm>
          <a:custGeom>
            <a:avLst/>
            <a:gdLst/>
            <a:ahLst/>
            <a:rect l="0" t="0" r="r" b="b"/>
            <a:pathLst>
              <a:path w="12501" h="7251">
                <a:moveTo>
                  <a:pt x="12501" y="7251"/>
                </a:moveTo>
                <a:lnTo>
                  <a:pt x="12501" y="6501"/>
                </a:lnTo>
                <a:lnTo>
                  <a:pt x="2000" y="0"/>
                </a:lnTo>
                <a:lnTo>
                  <a:pt x="0" y="7251"/>
                </a:lnTo>
                <a:lnTo>
                  <a:pt x="12501" y="7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6" name=""/>
          <p:cNvSpPr/>
          <p:nvPr/>
        </p:nvSpPr>
        <p:spPr>
          <a:xfrm>
            <a:off x="0" y="3762000"/>
            <a:ext cx="5760360" cy="1908360"/>
          </a:xfrm>
          <a:custGeom>
            <a:avLst/>
            <a:gdLst/>
            <a:ahLst/>
            <a:rect l="0" t="0" r="r" b="b"/>
            <a:pathLst>
              <a:path w="16001" h="5301">
                <a:moveTo>
                  <a:pt x="0" y="5301"/>
                </a:moveTo>
                <a:lnTo>
                  <a:pt x="14501" y="5301"/>
                </a:lnTo>
                <a:lnTo>
                  <a:pt x="16001" y="0"/>
                </a:lnTo>
                <a:lnTo>
                  <a:pt x="0" y="2546"/>
                </a:lnTo>
                <a:lnTo>
                  <a:pt x="0" y="530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7" name=""/>
          <p:cNvSpPr/>
          <p:nvPr/>
        </p:nvSpPr>
        <p:spPr>
          <a:xfrm>
            <a:off x="0" y="540000"/>
            <a:ext cx="4320360" cy="3780360"/>
          </a:xfrm>
          <a:custGeom>
            <a:avLst/>
            <a:gdLst/>
            <a:ahLst/>
            <a:rect l="0" t="0" r="r" b="b"/>
            <a:pathLst>
              <a:path w="12001" h="10501">
                <a:moveTo>
                  <a:pt x="0" y="0"/>
                </a:moveTo>
                <a:lnTo>
                  <a:pt x="0" y="10501"/>
                </a:lnTo>
                <a:lnTo>
                  <a:pt x="12001" y="850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 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 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9329A613-78BF-4FCF-AB7B-5F4EE4327E46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8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3780000" y="1980000"/>
            <a:ext cx="252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indent="0" algn="ctr">
              <a:spcAft>
                <a:spcPts val="1060"/>
              </a:spcAft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indent="0" algn="ctr">
              <a:spcAft>
                <a:spcPts val="848"/>
              </a:spcAft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indent="0" algn="ctr">
              <a:spcAft>
                <a:spcPts val="635"/>
              </a:spcAft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indent="0" algn="ctr">
              <a:spcAft>
                <a:spcPts val="422"/>
              </a:spcAft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indent="0" algn="ctr">
              <a:spcAft>
                <a:spcPts val="213"/>
              </a:spcAft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title"/>
          </p:nvPr>
        </p:nvSpPr>
        <p:spPr>
          <a:xfrm>
            <a:off x="540000" y="180000"/>
            <a:ext cx="396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ffffff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3276360" cy="3240360"/>
          </a:xfrm>
          <a:custGeom>
            <a:avLst/>
            <a:gdLst/>
            <a:ahLst/>
            <a:rect l="0" t="0" r="r" b="b"/>
            <a:pathLst>
              <a:path w="9101" h="9001">
                <a:moveTo>
                  <a:pt x="0" y="0"/>
                </a:moveTo>
                <a:lnTo>
                  <a:pt x="9101" y="0"/>
                </a:lnTo>
                <a:lnTo>
                  <a:pt x="6101" y="9001"/>
                </a:lnTo>
                <a:lnTo>
                  <a:pt x="0" y="4501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3240000" y="0"/>
            <a:ext cx="5400360" cy="1080360"/>
          </a:xfrm>
          <a:custGeom>
            <a:avLst/>
            <a:gdLst/>
            <a:ahLst/>
            <a:rect l="0" t="0" r="r" b="b"/>
            <a:pathLst>
              <a:path w="15001" h="3001">
                <a:moveTo>
                  <a:pt x="1000" y="0"/>
                </a:moveTo>
                <a:lnTo>
                  <a:pt x="0" y="3001"/>
                </a:lnTo>
                <a:lnTo>
                  <a:pt x="15001" y="0"/>
                </a:lnTo>
                <a:lnTo>
                  <a:pt x="10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6120000" y="0"/>
            <a:ext cx="3960360" cy="3780360"/>
          </a:xfrm>
          <a:custGeom>
            <a:avLst/>
            <a:gdLst/>
            <a:ahLst/>
            <a:rect l="0" t="0" r="r" b="b"/>
            <a:pathLst>
              <a:path w="11001" h="10501">
                <a:moveTo>
                  <a:pt x="11001" y="0"/>
                </a:moveTo>
                <a:lnTo>
                  <a:pt x="0" y="2500"/>
                </a:lnTo>
                <a:lnTo>
                  <a:pt x="11001" y="10501"/>
                </a:lnTo>
                <a:lnTo>
                  <a:pt x="11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6840000" y="2520000"/>
            <a:ext cx="3240360" cy="3150360"/>
          </a:xfrm>
          <a:custGeom>
            <a:avLst/>
            <a:gdLst/>
            <a:ahLst/>
            <a:rect l="0" t="0" r="r" b="b"/>
            <a:pathLst>
              <a:path w="9001" h="8751">
                <a:moveTo>
                  <a:pt x="9001" y="4501"/>
                </a:moveTo>
                <a:lnTo>
                  <a:pt x="3000" y="0"/>
                </a:lnTo>
                <a:lnTo>
                  <a:pt x="0" y="8751"/>
                </a:lnTo>
                <a:lnTo>
                  <a:pt x="9001" y="8751"/>
                </a:lnTo>
                <a:lnTo>
                  <a:pt x="9001" y="450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0000" y="4500000"/>
            <a:ext cx="5040360" cy="1170360"/>
          </a:xfrm>
          <a:custGeom>
            <a:avLst/>
            <a:gdLst/>
            <a:ahLst/>
            <a:rect l="0" t="0" r="r" b="b"/>
            <a:pathLst>
              <a:path w="14001" h="3251">
                <a:moveTo>
                  <a:pt x="0" y="3251"/>
                </a:moveTo>
                <a:lnTo>
                  <a:pt x="13001" y="3251"/>
                </a:lnTo>
                <a:lnTo>
                  <a:pt x="14001" y="0"/>
                </a:lnTo>
                <a:lnTo>
                  <a:pt x="0" y="3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2" name=""/>
          <p:cNvSpPr/>
          <p:nvPr/>
        </p:nvSpPr>
        <p:spPr>
          <a:xfrm>
            <a:off x="0" y="2160000"/>
            <a:ext cx="3996360" cy="3510360"/>
          </a:xfrm>
          <a:custGeom>
            <a:avLst/>
            <a:gdLst/>
            <a:ahLst/>
            <a:rect l="0" t="0" r="r" b="b"/>
            <a:pathLst>
              <a:path w="11101" h="9751">
                <a:moveTo>
                  <a:pt x="0" y="9751"/>
                </a:moveTo>
                <a:lnTo>
                  <a:pt x="1602" y="9751"/>
                </a:lnTo>
                <a:lnTo>
                  <a:pt x="11101" y="7440"/>
                </a:lnTo>
                <a:lnTo>
                  <a:pt x="0" y="0"/>
                </a:lnTo>
                <a:lnTo>
                  <a:pt x="0" y="9751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A618B39E-E15A-4BB0-838B-4CA82729DC84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title"/>
          </p:nvPr>
        </p:nvSpPr>
        <p:spPr>
          <a:xfrm>
            <a:off x="2880000" y="900000"/>
            <a:ext cx="432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2880000" y="2160000"/>
            <a:ext cx="4320000" cy="25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2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980360" cy="3420360"/>
          </a:xfrm>
          <a:custGeom>
            <a:avLst/>
            <a:gdLst/>
            <a:ahLst/>
            <a:rect l="0" t="0" r="r" b="b"/>
            <a:pathLst>
              <a:path w="5501" h="9501">
                <a:moveTo>
                  <a:pt x="0" y="0"/>
                </a:moveTo>
                <a:lnTo>
                  <a:pt x="0" y="8001"/>
                </a:lnTo>
                <a:lnTo>
                  <a:pt x="2500" y="9501"/>
                </a:lnTo>
                <a:lnTo>
                  <a:pt x="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1" name=""/>
          <p:cNvSpPr/>
          <p:nvPr/>
        </p:nvSpPr>
        <p:spPr>
          <a:xfrm>
            <a:off x="2340000" y="0"/>
            <a:ext cx="1980360" cy="360360"/>
          </a:xfrm>
          <a:custGeom>
            <a:avLst/>
            <a:gdLst/>
            <a:ahLst/>
            <a:rect l="0" t="0" r="r" b="b"/>
            <a:pathLst>
              <a:path w="5501" h="1001">
                <a:moveTo>
                  <a:pt x="500" y="0"/>
                </a:moveTo>
                <a:lnTo>
                  <a:pt x="0" y="1001"/>
                </a:lnTo>
                <a:lnTo>
                  <a:pt x="5501" y="0"/>
                </a:lnTo>
                <a:lnTo>
                  <a:pt x="5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6480000" y="0"/>
            <a:ext cx="3600360" cy="2700360"/>
          </a:xfrm>
          <a:custGeom>
            <a:avLst/>
            <a:gdLst/>
            <a:ahLst/>
            <a:rect l="0" t="0" r="r" b="b"/>
            <a:pathLst>
              <a:path w="10001" h="7501">
                <a:moveTo>
                  <a:pt x="10001" y="0"/>
                </a:moveTo>
                <a:lnTo>
                  <a:pt x="1000" y="0"/>
                </a:lnTo>
                <a:lnTo>
                  <a:pt x="0" y="500"/>
                </a:lnTo>
                <a:lnTo>
                  <a:pt x="10001" y="7501"/>
                </a:lnTo>
                <a:lnTo>
                  <a:pt x="10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3" name=""/>
          <p:cNvSpPr/>
          <p:nvPr/>
        </p:nvSpPr>
        <p:spPr>
          <a:xfrm>
            <a:off x="8100000" y="2340000"/>
            <a:ext cx="1980360" cy="3330360"/>
          </a:xfrm>
          <a:custGeom>
            <a:avLst/>
            <a:gdLst/>
            <a:ahLst/>
            <a:rect l="0" t="0" r="r" b="b"/>
            <a:pathLst>
              <a:path w="5501" h="9251">
                <a:moveTo>
                  <a:pt x="5501" y="9251"/>
                </a:moveTo>
                <a:lnTo>
                  <a:pt x="5501" y="2000"/>
                </a:lnTo>
                <a:lnTo>
                  <a:pt x="3001" y="0"/>
                </a:lnTo>
                <a:lnTo>
                  <a:pt x="0" y="9251"/>
                </a:lnTo>
                <a:lnTo>
                  <a:pt x="5501" y="9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5940000" y="5220000"/>
            <a:ext cx="1800000" cy="450360"/>
          </a:xfrm>
          <a:custGeom>
            <a:avLst/>
            <a:gdLst/>
            <a:ahLst/>
            <a:rect l="0" t="0" r="r" b="b"/>
            <a:pathLst>
              <a:path w="5000" h="1251">
                <a:moveTo>
                  <a:pt x="4500" y="1251"/>
                </a:moveTo>
                <a:lnTo>
                  <a:pt x="5000" y="0"/>
                </a:lnTo>
                <a:lnTo>
                  <a:pt x="0" y="1251"/>
                </a:lnTo>
                <a:lnTo>
                  <a:pt x="4500" y="1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0" y="3240000"/>
            <a:ext cx="3240360" cy="2430360"/>
          </a:xfrm>
          <a:custGeom>
            <a:avLst/>
            <a:gdLst/>
            <a:ahLst/>
            <a:rect l="0" t="0" r="r" b="b"/>
            <a:pathLst>
              <a:path w="9001" h="6751">
                <a:moveTo>
                  <a:pt x="0" y="0"/>
                </a:moveTo>
                <a:lnTo>
                  <a:pt x="0" y="6751"/>
                </a:lnTo>
                <a:lnTo>
                  <a:pt x="9001" y="6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800000" y="360000"/>
            <a:ext cx="648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800000" y="1440000"/>
            <a:ext cx="648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3B0152F3-5F97-47E9-A8C9-2D9164FAE5F5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0" y="0"/>
            <a:ext cx="1080360" cy="3420360"/>
          </a:xfrm>
          <a:custGeom>
            <a:avLst/>
            <a:gdLst/>
            <a:ahLst/>
            <a:rect l="0" t="0" r="r" b="b"/>
            <a:pathLst>
              <a:path w="3001" h="9501">
                <a:moveTo>
                  <a:pt x="0" y="0"/>
                </a:moveTo>
                <a:lnTo>
                  <a:pt x="0" y="9501"/>
                </a:lnTo>
                <a:lnTo>
                  <a:pt x="30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7740000" y="0"/>
            <a:ext cx="2340360" cy="1620360"/>
          </a:xfrm>
          <a:custGeom>
            <a:avLst/>
            <a:gdLst/>
            <a:ahLst/>
            <a:rect l="0" t="0" r="r" b="b"/>
            <a:pathLst>
              <a:path w="6501" h="4501">
                <a:moveTo>
                  <a:pt x="6501" y="0"/>
                </a:moveTo>
                <a:lnTo>
                  <a:pt x="0" y="0"/>
                </a:lnTo>
                <a:lnTo>
                  <a:pt x="6501" y="4501"/>
                </a:lnTo>
                <a:lnTo>
                  <a:pt x="65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9000000" y="2520000"/>
            <a:ext cx="1080360" cy="3150360"/>
          </a:xfrm>
          <a:custGeom>
            <a:avLst/>
            <a:gdLst/>
            <a:ahLst/>
            <a:rect l="0" t="0" r="r" b="b"/>
            <a:pathLst>
              <a:path w="3001" h="8751">
                <a:moveTo>
                  <a:pt x="3001" y="8751"/>
                </a:moveTo>
                <a:lnTo>
                  <a:pt x="3001" y="0"/>
                </a:lnTo>
                <a:lnTo>
                  <a:pt x="0" y="8751"/>
                </a:lnTo>
                <a:lnTo>
                  <a:pt x="3001" y="87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0" y="4320000"/>
            <a:ext cx="1980360" cy="1350360"/>
          </a:xfrm>
          <a:custGeom>
            <a:avLst/>
            <a:gdLst/>
            <a:ahLst/>
            <a:rect l="0" t="0" r="r" b="b"/>
            <a:pathLst>
              <a:path w="5501" h="3751">
                <a:moveTo>
                  <a:pt x="0" y="0"/>
                </a:moveTo>
                <a:lnTo>
                  <a:pt x="0" y="3751"/>
                </a:lnTo>
                <a:lnTo>
                  <a:pt x="5501" y="3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638BF29E-CFD9-4175-8C78-D36FAC3D9B74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3745440" y="1911240"/>
            <a:ext cx="2561760" cy="18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title"/>
          </p:nvPr>
        </p:nvSpPr>
        <p:spPr>
          <a:xfrm>
            <a:off x="504000" y="225000"/>
            <a:ext cx="403956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title"/>
          </p:nvPr>
        </p:nvSpPr>
        <p:spPr>
          <a:xfrm>
            <a:off x="1687320" y="1093320"/>
            <a:ext cx="6592680" cy="295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4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Proyecto ML</a:t>
            </a:r>
            <a:br>
              <a:rPr sz="4000"/>
            </a:br>
            <a:br>
              <a:rPr sz="4000"/>
            </a:br>
            <a:r>
              <a:rPr b="1" lang="es-ES" sz="4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  PREDICCIÓN GENERACIÓN SOLAR </a:t>
            </a:r>
            <a:br>
              <a:rPr sz="4000"/>
            </a:br>
            <a:endParaRPr b="0" lang="es-ES" sz="40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80000" y="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CONTEXTO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180000" y="952920"/>
            <a:ext cx="9720000" cy="44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OBJETIVO: predecir la producción de energía solar fotovoltaica de una zona a partir de la información meteorológica y de radiación solar. </a:t>
            </a:r>
            <a:endParaRPr b="1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Variables entrada (X): información meteorológica y de radiación solar de estaciones de medida de AEMET.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TARGET (y): generación solar fotovoltaica (recogida por REE - Red Eléctrica Española. 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1440000" y="3276000"/>
            <a:ext cx="7362720" cy="288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BB2C7EB-A542-4CDF-B9B5-EDFB6C3F749B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REE: descargamos con API datos 2023-2025. Procesamos JSON para extraer los datos: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CCAA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Periodo generación (AAAA-MM)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Energía generada (MWh)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AEMET: descarga manual datasets de estaciones con API con datos mensuales en ficheros JSON. Importamos como DataFrame.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Split para descomponer Año y mes y creamos columna para asociar CCAA a cada estación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MERGE con estos campos de ambos datasets para obtener dataset origen para predicciones.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LIMPIEZA Y TRANSFORMACIÓN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B6849CD-3C13-4A2B-8E5F-FE572C53A97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/>
          </p:nvPr>
        </p:nvSpPr>
        <p:spPr>
          <a:xfrm>
            <a:off x="0" y="946080"/>
            <a:ext cx="540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Analizamos correlación de campos para reducir columnas: 50 inicialmente.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Hay columnas con datos maximos, mínimos y medios de la misma variable.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Tratamiento de nulos: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Eliminación de registros y columnas con mayoría nulos.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Relleno resto nulos (media o bfill).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Codificación columnas texto (estaciones).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LIMPIEZA Y TRANSFORMACIÓN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5400000" y="900000"/>
            <a:ext cx="4690440" cy="49834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8823D68-0D2C-43EF-82EA-D7CE6E8E49B9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Comparar modelos con datos sin nulos y con nulos.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Reducir variables atendiendo a la correlación con target (“Energía Solar) y entre ellas.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Comprobar si hay diferencia en los resultados por usar menos variables y/o escalar.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MODELOS ML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67" name="" descr=""/>
          <p:cNvPicPr/>
          <p:nvPr/>
        </p:nvPicPr>
        <p:blipFill>
          <a:blip r:embed="rId1"/>
          <a:stretch/>
        </p:blipFill>
        <p:spPr>
          <a:xfrm>
            <a:off x="360" y="2694600"/>
            <a:ext cx="10079640" cy="11574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3FE839F-080D-4C8A-99D4-F6D7992294D0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Best scorers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Sin nulos → Polynomial Regression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140417.18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89.96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41828149406.45753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204519.313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0.7221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Con nulos → XGBoost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155904.87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24.698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57145393324.60148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239051.026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0.7218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AF23C11-C514-42E4-BA39-36BFCB14B319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Otros modelos probados: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PCA: ¿métricas con Linear Regression?</a:t>
            </a: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😕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399166.9821236511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130.23986175436448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226797592357.2026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476232.7081975813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-0.14006487739975548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SVC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DD71BEE-77F6-4CB4-8E69-B5985ACA3298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720000" y="337320"/>
            <a:ext cx="86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CONCLUSIONES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LIMITACIONES Y MEJORAS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r>
              <a:rPr b="1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LIMITACIONES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API AEMET → ¿integración Python?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Tratamiento nulos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Aft>
                <a:spcPts val="1060"/>
              </a:spcAft>
              <a:buNone/>
            </a:pPr>
            <a:r>
              <a:rPr b="1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MEJORAS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Otras fuentes de datos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Ensembles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E67C683-6355-4DAE-8305-2F6B48AD250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2025-11-14T11:54:24Z</dcterms:created>
  <dc:creator/>
  <dc:description>This work is licensed under a Creative Commons-0 licence.
It makes use of the works of Zirk.</dc:description>
  <dc:language>es-ES</dc:language>
  <cp:lastModifiedBy/>
  <cp:lastPrinted>2025-11-26T11:36:15Z</cp:lastPrinted>
  <dcterms:modified xsi:type="dcterms:W3CDTF">2025-12-18T10:19:41Z</dcterms:modified>
  <cp:revision>11</cp:revision>
  <dc:subject/>
  <dc:title>Focus</dc:title>
</cp:coreProperties>
</file>